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FAC4-E1BB-3405-84F6-8742A3BC5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6257A-A2EA-596C-8AF3-B3A0E070B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79C5E-C5C9-FEA1-3E28-CD039EC7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A85C-37F9-449F-D629-E370CB63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C2A57-A629-8D57-60E7-59E6A70E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2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2EEE-CC64-7805-E325-1BB6E7FE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F4360-3A5C-D1BA-7332-89829AD80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4F3B2-F999-2600-2680-B0B233E3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61E1-2B5D-49DB-FA97-BFA55292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16E7D-334F-EBBA-467B-6590F9E3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9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64BD-17D9-8606-F5F1-944ED6FF3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B4EE-4CDA-192D-F99C-DBB1BEB06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511E-7535-F92B-D170-134BA48F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3213-D387-D3FE-CAB2-F6D1529BE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45F13-EC79-C0C4-621D-2E1492C4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7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1465-3FF1-2AD0-E42F-AEDCD696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237F-4CF9-B989-E8E7-02A5693C8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B2A01-DDAB-80DE-4EB6-A162823DF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2923D-5AE5-24ED-71D8-E777B6B4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8A5E2-984B-7BCC-579B-5C63051B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65F18-915C-00BD-C2B7-5B87E91D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9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81D5-9A4C-86BE-D62F-B323CB46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EEE96-7883-D283-36AB-9B976D6EB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C4FAF-CAEC-EDCA-996A-13174779E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7AEF9-7F19-3918-EEA2-B1C2A5827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0F14F-0FA2-75AC-193C-BB2B62080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9F56D-A5CF-451E-1746-7FFFE8AA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0E543-DCFC-85EB-641D-4AC357AC2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756BC-F6FD-D09B-CCD6-38F7C9BE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8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014D-065F-45D6-296E-90490AE9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22603-A866-E470-5CDE-1C5E8E21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C0898-F8CE-FD4B-E6BF-5F674E47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10887-1537-67D0-BCFA-93A7EE83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3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86F50-4896-B910-C7FA-2DA194AA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7148C-518D-D467-E989-52AFE3ED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E8FE9-ED86-2347-2EAE-2FA0FBF5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9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2DB6-0AC8-8718-DDFD-860D4964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0D8B5-D455-ABD1-A66C-C9D0FF470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1F755-4C97-3E97-E0F8-2A77FD340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9283-6CD3-30E9-A9D3-5A7C0064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79A2A-BAD3-F317-5452-8544B081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B4CC6-58A8-1829-ADB0-8BDC7C15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6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E041-C457-212A-7477-D1FD1F54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607CB-2937-84E0-02F9-95CB69629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105A9-1DBE-3CDA-7D90-7201728CA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37A17-12A3-D283-E03F-FD96F3B3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15368-7FC3-7A3D-0122-7CE23FC5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716F6-4B45-2421-F58D-474320A5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7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FA61-FC22-9E37-B47A-B6DED7E71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A7F1B-0776-294F-8A36-5D7454D96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1AC7-DD69-9737-CD16-A1B256E8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3D150-6550-E1FF-8B67-D9E0E2E4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381FB-E5A3-D163-1F5A-436E5366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13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F1238-E9DD-EA87-F39A-52E4C75BC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DDB69-399D-3A55-BD30-A7FBDBC3E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B7931-3173-1078-573D-A5B0477E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A9B2F-682C-7266-26CE-A7D3B85C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89422-1D92-7CF5-9D93-7EDE764D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82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EAAB5-2560-0EED-35DB-85B3EFFF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460A5-2153-4572-AAC0-D3992FA3B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9B-EB72-85F8-8508-60A18F18B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AD5A69-0828-468F-923A-A3AAD7DFE0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2D69-D7BA-2BE7-DD82-0E53C8962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8986-C0B9-7567-B150-18A7F5816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8CAB6-6807-400C-91E8-6B3EF03A7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2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E2CCF-F097-EAEF-EEDC-D4B3408A6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Revolution 2023 and beyond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AFD3C-1ADA-5D75-EDDE-7C552BCA9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Jan 2026</a:t>
            </a:r>
          </a:p>
        </p:txBody>
      </p:sp>
    </p:spTree>
    <p:extLst>
      <p:ext uri="{BB962C8B-B14F-4D97-AF65-F5344CB8AC3E}">
        <p14:creationId xmlns:p14="http://schemas.microsoft.com/office/powerpoint/2010/main" val="142488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1F58-F542-D421-9D7F-BED1B39A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2023: The Prompt Engineering Era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28220-8140-AE3B-0984-CB447951C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Focus</a:t>
            </a:r>
            <a:r>
              <a:rPr lang="en-US" dirty="0"/>
              <a:t>: "How do I get the LLM to answer correctly?"</a:t>
            </a:r>
          </a:p>
          <a:p>
            <a:r>
              <a:rPr lang="en-US" b="1" dirty="0"/>
              <a:t>Skills</a:t>
            </a:r>
            <a:r>
              <a:rPr lang="en-US" dirty="0"/>
              <a:t>: Writing clever prompts, few-shot examples, chain-of-thought</a:t>
            </a:r>
          </a:p>
          <a:p>
            <a:r>
              <a:rPr lang="en-US" b="1" dirty="0"/>
              <a:t>Tools</a:t>
            </a:r>
            <a:r>
              <a:rPr lang="en-US" dirty="0"/>
              <a:t>: ChatGPT playground, basic OpenAI API calls</a:t>
            </a:r>
          </a:p>
          <a:p>
            <a:r>
              <a:rPr lang="en-US" b="1" dirty="0"/>
              <a:t>Limitation</a:t>
            </a:r>
            <a:r>
              <a:rPr lang="en-US" dirty="0"/>
              <a:t>: Brittle, inconsistent, hard to scale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BFA52-952C-C5AB-BC8C-DC3DDC7FEB9B}"/>
              </a:ext>
            </a:extLst>
          </p:cNvPr>
          <p:cNvSpPr/>
          <p:nvPr/>
        </p:nvSpPr>
        <p:spPr>
          <a:xfrm>
            <a:off x="905256" y="4453128"/>
            <a:ext cx="10863072" cy="17238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sz="1200" dirty="0"/>
              <a:t># 2023-style: Brittle prompt engineering</a:t>
            </a:r>
          </a:p>
          <a:p>
            <a:pPr latinLnBrk="1"/>
            <a:r>
              <a:rPr lang="en-US" sz="1200" dirty="0"/>
              <a:t>prompt = </a:t>
            </a:r>
            <a:r>
              <a:rPr lang="en-US" sz="1200" dirty="0" err="1"/>
              <a:t>f"""You</a:t>
            </a:r>
            <a:r>
              <a:rPr lang="en-US" sz="1200" dirty="0"/>
              <a:t> are an expert. Answer this carefully:</a:t>
            </a:r>
          </a:p>
          <a:p>
            <a:pPr latinLnBrk="1"/>
            <a:r>
              <a:rPr lang="en-US" sz="1200" dirty="0"/>
              <a:t>Question: {question}</a:t>
            </a:r>
          </a:p>
          <a:p>
            <a:pPr latinLnBrk="1"/>
            <a:r>
              <a:rPr lang="en-US" sz="1200" dirty="0"/>
              <a:t>Context: {context}</a:t>
            </a:r>
          </a:p>
          <a:p>
            <a:pPr latinLnBrk="1"/>
            <a:endParaRPr lang="en-US" sz="1200" dirty="0"/>
          </a:p>
          <a:p>
            <a:pPr latinLnBrk="1"/>
            <a:r>
              <a:rPr lang="en-US" sz="1200" dirty="0"/>
              <a:t>Think step by step and provide a detailed answer.</a:t>
            </a:r>
          </a:p>
          <a:p>
            <a:pPr latinLnBrk="1"/>
            <a:r>
              <a:rPr lang="en-US" sz="1200" dirty="0"/>
              <a:t>Make sure to include examples and be thorough.</a:t>
            </a:r>
          </a:p>
          <a:p>
            <a:pPr latinLnBrk="1"/>
            <a:r>
              <a:rPr lang="en-US" sz="1200" dirty="0"/>
              <a:t>Answer:"""</a:t>
            </a:r>
          </a:p>
        </p:txBody>
      </p:sp>
    </p:spTree>
    <p:extLst>
      <p:ext uri="{BB962C8B-B14F-4D97-AF65-F5344CB8AC3E}">
        <p14:creationId xmlns:p14="http://schemas.microsoft.com/office/powerpoint/2010/main" val="288920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AD8E-4283-204E-C2F4-6BCA20E4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2024: The Orchestration Era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DD8CC-A66E-7134-6DD3-B31C7AA6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Focus</a:t>
            </a:r>
            <a:r>
              <a:rPr lang="en-US" dirty="0"/>
              <a:t>: "How do I build reliable systems with LLMs?"</a:t>
            </a:r>
          </a:p>
          <a:p>
            <a:r>
              <a:rPr lang="en-US" b="1" dirty="0"/>
              <a:t>Skills</a:t>
            </a:r>
            <a:r>
              <a:rPr lang="en-US" dirty="0"/>
              <a:t>: Multi-step workflows, tool integration, memory, RAG</a:t>
            </a:r>
          </a:p>
          <a:p>
            <a:r>
              <a:rPr lang="en-US" b="1" dirty="0"/>
              <a:t>Tools</a:t>
            </a:r>
            <a:r>
              <a:rPr lang="en-US" dirty="0"/>
              <a:t>: </a:t>
            </a:r>
            <a:r>
              <a:rPr lang="en-US" b="1" dirty="0" err="1"/>
              <a:t>LangChain</a:t>
            </a:r>
            <a:r>
              <a:rPr lang="en-US" b="1" dirty="0"/>
              <a:t>/</a:t>
            </a:r>
            <a:r>
              <a:rPr lang="en-US" b="1" dirty="0" err="1"/>
              <a:t>LangGraph</a:t>
            </a:r>
            <a:r>
              <a:rPr lang="en-US" dirty="0"/>
              <a:t>, vector databases, async processing</a:t>
            </a:r>
          </a:p>
          <a:p>
            <a:r>
              <a:rPr lang="en-US" b="1" dirty="0"/>
              <a:t>Advancement</a:t>
            </a:r>
            <a:r>
              <a:rPr lang="en-US" dirty="0"/>
              <a:t>: Systems thinking, production patterns</a:t>
            </a:r>
          </a:p>
          <a:p>
            <a:r>
              <a:rPr lang="en-US" b="1" dirty="0"/>
              <a:t>Your achievement</a:t>
            </a:r>
            <a:r>
              <a:rPr lang="en-US" dirty="0"/>
              <a:t>: The complete multi-agent pipeline with queues, memory, and specialized agents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833C9D-3085-2443-4ECE-262E3A89946B}"/>
              </a:ext>
            </a:extLst>
          </p:cNvPr>
          <p:cNvSpPr/>
          <p:nvPr/>
        </p:nvSpPr>
        <p:spPr>
          <a:xfrm>
            <a:off x="838200" y="5166360"/>
            <a:ext cx="10719816" cy="13265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sz="1000" dirty="0"/>
              <a:t># 2024-style: Orchestrated system</a:t>
            </a:r>
          </a:p>
          <a:p>
            <a:pPr latinLnBrk="1"/>
            <a:r>
              <a:rPr lang="en-US" sz="1000" dirty="0"/>
              <a:t>pipeline = </a:t>
            </a:r>
            <a:r>
              <a:rPr lang="en-US" sz="1000" dirty="0" err="1"/>
              <a:t>StateGraph</a:t>
            </a:r>
            <a:r>
              <a:rPr lang="en-US" sz="1000" dirty="0"/>
              <a:t>(</a:t>
            </a:r>
            <a:r>
              <a:rPr lang="en-US" sz="1000" dirty="0" err="1"/>
              <a:t>AgentState</a:t>
            </a:r>
            <a:r>
              <a:rPr lang="en-US" sz="1000" dirty="0"/>
              <a:t>)</a:t>
            </a:r>
          </a:p>
          <a:p>
            <a:pPr latinLnBrk="1"/>
            <a:r>
              <a:rPr lang="en-US" sz="1000" dirty="0" err="1"/>
              <a:t>pipeline.add_node</a:t>
            </a:r>
            <a:r>
              <a:rPr lang="en-US" sz="1000" dirty="0"/>
              <a:t>("router", </a:t>
            </a:r>
            <a:r>
              <a:rPr lang="en-US" sz="1000" dirty="0" err="1"/>
              <a:t>router_agent</a:t>
            </a:r>
            <a:r>
              <a:rPr lang="en-US" sz="1000" dirty="0"/>
              <a:t>)</a:t>
            </a:r>
          </a:p>
          <a:p>
            <a:pPr latinLnBrk="1"/>
            <a:r>
              <a:rPr lang="en-US" sz="1000" dirty="0" err="1"/>
              <a:t>pipeline.add_node</a:t>
            </a:r>
            <a:r>
              <a:rPr lang="en-US" sz="1000" dirty="0"/>
              <a:t>("retriever", </a:t>
            </a:r>
            <a:r>
              <a:rPr lang="en-US" sz="1000" dirty="0" err="1"/>
              <a:t>retriever_agent</a:t>
            </a:r>
            <a:r>
              <a:rPr lang="en-US" sz="1000" dirty="0"/>
              <a:t>)</a:t>
            </a:r>
          </a:p>
          <a:p>
            <a:pPr latinLnBrk="1"/>
            <a:r>
              <a:rPr lang="en-US" sz="1000" dirty="0" err="1"/>
              <a:t>pipeline.add_node</a:t>
            </a:r>
            <a:r>
              <a:rPr lang="en-US" sz="1000" dirty="0"/>
              <a:t>("generator", </a:t>
            </a:r>
            <a:r>
              <a:rPr lang="en-US" sz="1000" dirty="0" err="1"/>
              <a:t>generator_agent</a:t>
            </a:r>
            <a:r>
              <a:rPr lang="en-US" sz="1000" dirty="0"/>
              <a:t>)</a:t>
            </a:r>
          </a:p>
          <a:p>
            <a:pPr latinLnBrk="1"/>
            <a:r>
              <a:rPr lang="en-US" sz="1000" dirty="0" err="1"/>
              <a:t>pipeline.add_node</a:t>
            </a:r>
            <a:r>
              <a:rPr lang="en-US" sz="1000" dirty="0"/>
              <a:t>("critic", </a:t>
            </a:r>
            <a:r>
              <a:rPr lang="en-US" sz="1000" dirty="0" err="1"/>
              <a:t>critic_agent</a:t>
            </a:r>
            <a:r>
              <a:rPr lang="en-US" sz="1000" dirty="0"/>
              <a:t>)</a:t>
            </a:r>
          </a:p>
          <a:p>
            <a:pPr latinLnBrk="1"/>
            <a:r>
              <a:rPr lang="en-US" sz="1000" dirty="0"/>
              <a:t># ... complex orchestration</a:t>
            </a:r>
          </a:p>
        </p:txBody>
      </p:sp>
    </p:spTree>
    <p:extLst>
      <p:ext uri="{BB962C8B-B14F-4D97-AF65-F5344CB8AC3E}">
        <p14:creationId xmlns:p14="http://schemas.microsoft.com/office/powerpoint/2010/main" val="139724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2549-02BA-65D0-FCBB-786A0FCD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2025: The Optimization Era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B6DC4-8A96-7270-4883-E47C15356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Focus</a:t>
            </a:r>
            <a:r>
              <a:rPr lang="en-US" dirty="0"/>
              <a:t>: "How do I make my LLM system perform optimally?"</a:t>
            </a:r>
          </a:p>
          <a:p>
            <a:r>
              <a:rPr lang="en-US" b="1" dirty="0"/>
              <a:t>Skills</a:t>
            </a:r>
            <a:r>
              <a:rPr lang="en-US" dirty="0"/>
              <a:t>: Automated prompt optimization, evaluation, cost/latency trade-offs</a:t>
            </a:r>
          </a:p>
          <a:p>
            <a:r>
              <a:rPr lang="en-US" b="1" dirty="0"/>
              <a:t>Tools</a:t>
            </a:r>
            <a:r>
              <a:rPr lang="en-US" dirty="0"/>
              <a:t>: </a:t>
            </a:r>
            <a:r>
              <a:rPr lang="en-US" b="1" dirty="0" err="1"/>
              <a:t>DSPy</a:t>
            </a:r>
            <a:r>
              <a:rPr lang="en-US" dirty="0"/>
              <a:t>, advanced evaluation frameworks, </a:t>
            </a:r>
            <a:r>
              <a:rPr lang="en-US" dirty="0" err="1"/>
              <a:t>MLOps</a:t>
            </a:r>
            <a:r>
              <a:rPr lang="en-US" dirty="0"/>
              <a:t> for LLMs</a:t>
            </a:r>
          </a:p>
          <a:p>
            <a:r>
              <a:rPr lang="en-US" b="1" dirty="0"/>
              <a:t>Goal</a:t>
            </a:r>
            <a:r>
              <a:rPr lang="en-US" dirty="0"/>
              <a:t>: Data-driven, measurable, continuously improving systems</a:t>
            </a:r>
          </a:p>
          <a:p>
            <a:r>
              <a:rPr lang="en-US" b="1" dirty="0"/>
              <a:t>Your roadmap</a:t>
            </a:r>
            <a:r>
              <a:rPr lang="en-US" dirty="0"/>
              <a:t>: </a:t>
            </a:r>
            <a:r>
              <a:rPr lang="en-US" dirty="0" err="1"/>
              <a:t>DSPy</a:t>
            </a:r>
            <a:r>
              <a:rPr lang="en-US" dirty="0"/>
              <a:t> for router, generator, critic optimization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FC88DA-2590-99EF-0630-4F966D03C38F}"/>
              </a:ext>
            </a:extLst>
          </p:cNvPr>
          <p:cNvSpPr/>
          <p:nvPr/>
        </p:nvSpPr>
        <p:spPr>
          <a:xfrm>
            <a:off x="374904" y="4873752"/>
            <a:ext cx="11329416" cy="17739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# 2025-style: Optimized, data-driven</a:t>
            </a:r>
          </a:p>
          <a:p>
            <a:r>
              <a:rPr lang="en-US" sz="1200" dirty="0"/>
              <a:t>class </a:t>
            </a:r>
            <a:r>
              <a:rPr lang="en-US" sz="1200" dirty="0" err="1"/>
              <a:t>OptimizedAgent</a:t>
            </a:r>
            <a:r>
              <a:rPr lang="en-US" sz="1200" dirty="0"/>
              <a:t>(</a:t>
            </a:r>
            <a:r>
              <a:rPr lang="en-US" sz="1200" dirty="0" err="1"/>
              <a:t>dspy.Module</a:t>
            </a:r>
            <a:r>
              <a:rPr lang="en-US" sz="1200" dirty="0"/>
              <a:t>):</a:t>
            </a:r>
          </a:p>
          <a:p>
            <a:r>
              <a:rPr lang="en-US" sz="1200" dirty="0"/>
              <a:t>    def __</a:t>
            </a:r>
            <a:r>
              <a:rPr lang="en-US" sz="1200" dirty="0" err="1"/>
              <a:t>init</a:t>
            </a:r>
            <a:r>
              <a:rPr lang="en-US" sz="1200" dirty="0"/>
              <a:t>__(self):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self.predict</a:t>
            </a:r>
            <a:r>
              <a:rPr lang="en-US" sz="1200" dirty="0"/>
              <a:t> = </a:t>
            </a:r>
            <a:r>
              <a:rPr lang="en-US" sz="1200" dirty="0" err="1"/>
              <a:t>dspy.ChainOfThought</a:t>
            </a:r>
            <a:r>
              <a:rPr lang="en-US" sz="1200" dirty="0"/>
              <a:t>("input -&gt; output")</a:t>
            </a:r>
          </a:p>
          <a:p>
            <a:r>
              <a:rPr lang="en-US" sz="1200" dirty="0"/>
              <a:t>    </a:t>
            </a:r>
          </a:p>
          <a:p>
            <a:r>
              <a:rPr lang="en-US" sz="1200" dirty="0"/>
              <a:t># COMPILE with data</a:t>
            </a:r>
          </a:p>
          <a:p>
            <a:r>
              <a:rPr lang="en-US" sz="1200" dirty="0" err="1"/>
              <a:t>optimized_agent</a:t>
            </a:r>
            <a:r>
              <a:rPr lang="en-US" sz="1200" dirty="0"/>
              <a:t> = </a:t>
            </a:r>
            <a:r>
              <a:rPr lang="en-US" sz="1200" dirty="0" err="1"/>
              <a:t>teleprompter.compile</a:t>
            </a:r>
            <a:r>
              <a:rPr lang="en-US" sz="1200" dirty="0"/>
              <a:t>(agent, trainset=examples)</a:t>
            </a:r>
          </a:p>
        </p:txBody>
      </p:sp>
    </p:spTree>
    <p:extLst>
      <p:ext uri="{BB962C8B-B14F-4D97-AF65-F5344CB8AC3E}">
        <p14:creationId xmlns:p14="http://schemas.microsoft.com/office/powerpoint/2010/main" val="108375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F51C-4509-9504-FED2-47419205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2026: The Reasoning &amp; Agency Era [Prediction]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7213-13E1-F641-D6AB-31765EE8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Multi-Agent Reasoning Networks</a:t>
            </a:r>
            <a:r>
              <a:rPr lang="en-US" dirty="0"/>
              <a:t> (Beyond Orchestration)</a:t>
            </a:r>
          </a:p>
          <a:p>
            <a:r>
              <a:rPr lang="en-US" b="1" dirty="0"/>
              <a:t>Long-Horizon Planning</a:t>
            </a:r>
            <a:r>
              <a:rPr lang="en-US" dirty="0"/>
              <a:t> (Beyond Single Queries)</a:t>
            </a:r>
          </a:p>
          <a:p>
            <a:r>
              <a:rPr lang="en-US" b="1" dirty="0"/>
              <a:t>Self-Improving Systems</a:t>
            </a:r>
            <a:r>
              <a:rPr lang="en-US" dirty="0"/>
              <a:t> (Beyond Manual Optimization)</a:t>
            </a:r>
          </a:p>
        </p:txBody>
      </p:sp>
    </p:spTree>
    <p:extLst>
      <p:ext uri="{BB962C8B-B14F-4D97-AF65-F5344CB8AC3E}">
        <p14:creationId xmlns:p14="http://schemas.microsoft.com/office/powerpoint/2010/main" val="72743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0E44-63AB-19B6-9FDD-8BF6DD4F3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 vs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DF250-F7D5-1B8A-B6D3-59203D73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DSPy</a:t>
            </a:r>
            <a:r>
              <a:rPr lang="en-US" b="1" dirty="0"/>
              <a:t> is prompt/pipeline optimization for getting the most out of existing models. </a:t>
            </a:r>
          </a:p>
          <a:p>
            <a:endParaRPr lang="en-US" b="1"/>
          </a:p>
          <a:p>
            <a:r>
              <a:rPr lang="en-US" b="1"/>
              <a:t>Fine-tuning is weight optimization for creating specialized models.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63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1A65-0277-AC25-12EB-6079BE75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10E0-A5FA-B41F-1754-7A8CFAC90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Fine-tuning is becoming a specialized tool rather than a default.</a:t>
            </a:r>
            <a:r>
              <a:rPr lang="en-US" dirty="0"/>
              <a:t> Most gains today come from:</a:t>
            </a:r>
          </a:p>
          <a:p>
            <a:pPr lvl="1"/>
            <a:r>
              <a:rPr lang="en-US" b="1" dirty="0"/>
              <a:t>Better prompting</a:t>
            </a:r>
            <a:r>
              <a:rPr lang="en-US" dirty="0"/>
              <a:t> (</a:t>
            </a:r>
            <a:r>
              <a:rPr lang="en-US" dirty="0" err="1"/>
              <a:t>DSPy</a:t>
            </a:r>
            <a:r>
              <a:rPr lang="en-US" dirty="0"/>
              <a:t>, manual engineering)</a:t>
            </a:r>
          </a:p>
          <a:p>
            <a:pPr lvl="1"/>
            <a:r>
              <a:rPr lang="en-US" b="1" dirty="0"/>
              <a:t>RAG systems</a:t>
            </a:r>
            <a:r>
              <a:rPr lang="en-US" dirty="0"/>
              <a:t> (adding external knowledge)</a:t>
            </a:r>
          </a:p>
          <a:p>
            <a:pPr lvl="1"/>
            <a:r>
              <a:rPr lang="en-US" b="1" dirty="0"/>
              <a:t>Model selection</a:t>
            </a:r>
            <a:r>
              <a:rPr lang="en-US" dirty="0"/>
              <a:t> (using right model for task)</a:t>
            </a:r>
          </a:p>
          <a:p>
            <a:pPr lvl="1"/>
            <a:r>
              <a:rPr lang="en-US" b="1" dirty="0"/>
              <a:t>Ensemble approaches</a:t>
            </a:r>
            <a:r>
              <a:rPr lang="en-US" dirty="0"/>
              <a:t> (multiple models/systems)</a:t>
            </a:r>
          </a:p>
          <a:p>
            <a:r>
              <a:rPr lang="en-US" b="1" dirty="0"/>
              <a:t>Fine-tune when you need to "bake in" specific behaviors that prompting can't achieve,</a:t>
            </a:r>
            <a:r>
              <a:rPr lang="en-US" dirty="0"/>
              <a:t> especially for:</a:t>
            </a:r>
          </a:p>
          <a:p>
            <a:pPr lvl="1"/>
            <a:r>
              <a:rPr lang="en-US" dirty="0"/>
              <a:t>Cost reduction at scale</a:t>
            </a:r>
          </a:p>
          <a:p>
            <a:pPr lvl="1"/>
            <a:r>
              <a:rPr lang="en-US" dirty="0"/>
              <a:t>Consistent output formatting</a:t>
            </a:r>
          </a:p>
          <a:p>
            <a:pPr lvl="1"/>
            <a:r>
              <a:rPr lang="en-US" dirty="0"/>
              <a:t>Proprietary knowledge not in public data</a:t>
            </a:r>
          </a:p>
          <a:p>
            <a:pPr lvl="1"/>
            <a:r>
              <a:rPr lang="en-US" dirty="0"/>
              <a:t>Specialized domain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21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487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AI Revolution 2023 and beyond</vt:lpstr>
      <vt:lpstr>2023: The Prompt Engineering Era</vt:lpstr>
      <vt:lpstr>2024: The Orchestration Era </vt:lpstr>
      <vt:lpstr>2025: The Optimization Era </vt:lpstr>
      <vt:lpstr>2026: The Reasoning &amp; Agency Era [Prediction]</vt:lpstr>
      <vt:lpstr>Fine Tuning vs Optimization</vt:lpstr>
      <vt:lpstr>Fine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See Kian Seng</dc:creator>
  <cp:lastModifiedBy>Eric See Kian Seng</cp:lastModifiedBy>
  <cp:revision>8</cp:revision>
  <dcterms:created xsi:type="dcterms:W3CDTF">2026-01-04T10:14:51Z</dcterms:created>
  <dcterms:modified xsi:type="dcterms:W3CDTF">2026-01-05T01:08:14Z</dcterms:modified>
</cp:coreProperties>
</file>