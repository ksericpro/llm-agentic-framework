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2FAC4-E1BB-3405-84F6-8742A3BC5C6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B6257A-A2EA-596C-8AF3-B3A0E070B7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79C5E-C5C9-FEA1-3E28-CD039EC75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66A85C-37F9-449F-D629-E370CB637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C2A57-A629-8D57-60E7-59E6A70EF6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0026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8E2EEE-CC64-7805-E325-1BB6E7FEF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F4360-3A5C-D1BA-7332-89829AD801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64F3B2-F999-2600-2680-B0B233E3B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1761E1-2B5D-49DB-FA97-BFA5529213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16E7D-334F-EBBA-467B-6590F9E3D3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749580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664BD-17D9-8606-F5F1-944ED6FF3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B2B4EE-4CDA-192D-F99C-DBB1BEB06CF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E2511E-7535-F92B-D170-134BA48FE3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313213-D387-D3FE-CAB2-F6D1529BEE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045F13-EC79-C0C4-621D-2E1492C460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8276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51465-3FF1-2AD0-E42F-AEDCD69650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8A237F-4CF9-B989-E8E7-02A5693C8F7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A6B2A01-DDAB-80DE-4EB6-A162823DF4A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E2923D-5AE5-24ED-71D8-E777B6B47A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1A8A5E2-984B-7BCC-579B-5C63051B1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965F18-915C-00BD-C2B7-5B87E91DC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83925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A981D5-9A4C-86BE-D62F-B323CB468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80EEE96-7883-D283-36AB-9B976D6EB44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C4FAF-CAEC-EDCA-996A-13174779E9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DE7AEF9-7F19-3918-EEA2-B1C2A58270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F0F14F-0FA2-75AC-193C-BB2B620800E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A09F56D-A5CF-451E-1746-7FFFE8AA62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510E543-DCFC-85EB-641D-4AC357AC2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A756BC-F6FD-D09B-CCD6-38F7C9BE0B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24849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C014D-065F-45D6-296E-90490AE942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A622603-A866-E470-5CDE-1C5E8E216B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9C0898-F8CE-FD4B-E6BF-5F674E47B1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610887-1537-67D0-BCFA-93A7EE83FE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03393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9A86F50-4896-B910-C7FA-2DA194AAFF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CD7148C-518D-D467-E989-52AFE3ED84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9E8FE9-ED86-2347-2EAE-2FA0FBF53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2922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672DB6-0AC8-8718-DDFD-860D496487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F0D8B5-D455-ABD1-A66C-C9D0FF4702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C1F755-4C97-3E97-E0F8-2A77FD3402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B4E9283-6CD3-30E9-A9D3-5A7C0064C2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079A2A-BAD3-F317-5452-8544B081F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AB4CC6-58A8-1829-ADB0-8BDC7C15DB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02685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1E041-C457-212A-7477-D1FD1F540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7607CB-2937-84E0-02F9-95CB696291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9F105A9-1DBE-3CDA-7D90-7201728CA5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2E37A17-12A3-D283-E03F-FD96F3B32F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015368-7FC3-7A3D-0122-7CE23FC58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3716F6-4B45-2421-F58D-474320A567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768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43FA61-FC22-9E37-B47A-B6DED7E713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AFA7F1B-0776-294F-8A36-5D7454D9658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C01AC7-DD69-9737-CD16-A1B256E8A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AA3D150-6550-E1FF-8B67-D9E0E2E4AC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9381FB-E5A3-D163-1F5A-436E53667F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41301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ECF1238-E9DD-EA87-F39A-52E4C75BCD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BDDB69-399D-3A55-BD30-A7FBDBC3ED6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DB7931-3173-1078-573D-A5B0477E7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3A9B2F-682C-7266-26CE-A7D3B85CCF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589422-1D92-7CF5-9D93-7EDE764D1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68295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8EAAB5-2560-0EED-35DB-85B3EFFFC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3460A5-2153-4572-AAC0-D3992FA3BCA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FC579B-EB72-85F8-8508-60A18F18BB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5AD5A69-0828-468F-923A-A3AAD7DFE019}" type="datetimeFigureOut">
              <a:rPr lang="en-US" smtClean="0"/>
              <a:t>1/4/2026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702D69-D7BA-2BE7-DD82-0E53C89625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E78986-C0B9-7567-B150-18A7F58161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48CAB6-6807-400C-91E8-6B3EF03A77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13283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E2CCF-F097-EAEF-EEDC-D4B3408A6A2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AI Revolution 2023 and beyond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07AFD3C-1ADA-5D75-EDDE-7C552BCA98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4</a:t>
            </a:r>
            <a:r>
              <a:rPr lang="en-US" baseline="30000" dirty="0"/>
              <a:t>th</a:t>
            </a:r>
            <a:r>
              <a:rPr lang="en-US" dirty="0"/>
              <a:t> Jan 2026</a:t>
            </a:r>
          </a:p>
        </p:txBody>
      </p:sp>
    </p:spTree>
    <p:extLst>
      <p:ext uri="{BB962C8B-B14F-4D97-AF65-F5344CB8AC3E}">
        <p14:creationId xmlns:p14="http://schemas.microsoft.com/office/powerpoint/2010/main" val="1424887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8D1F58-F542-D421-9D7F-BED1B39ABB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2023: The Prompt Engineering Era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F28220-8140-AE3B-0984-CB447951C9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Focus</a:t>
            </a:r>
            <a:r>
              <a:rPr lang="en-US" dirty="0"/>
              <a:t>: "How do I get the LLM to answer correctly?"</a:t>
            </a:r>
          </a:p>
          <a:p>
            <a:r>
              <a:rPr lang="en-US" b="1" dirty="0"/>
              <a:t>Skills</a:t>
            </a:r>
            <a:r>
              <a:rPr lang="en-US" dirty="0"/>
              <a:t>: Writing clever prompts, few-shot examples, chain-of-thought</a:t>
            </a:r>
          </a:p>
          <a:p>
            <a:r>
              <a:rPr lang="en-US" b="1" dirty="0"/>
              <a:t>Tools</a:t>
            </a:r>
            <a:r>
              <a:rPr lang="en-US" dirty="0"/>
              <a:t>: ChatGPT playground, basic OpenAI API calls</a:t>
            </a:r>
          </a:p>
          <a:p>
            <a:r>
              <a:rPr lang="en-US" b="1" dirty="0"/>
              <a:t>Limitation</a:t>
            </a:r>
            <a:r>
              <a:rPr lang="en-US" dirty="0"/>
              <a:t>: Brittle, inconsistent, hard to scale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76BFA52-952C-C5AB-BC8C-DC3DDC7FEB9B}"/>
              </a:ext>
            </a:extLst>
          </p:cNvPr>
          <p:cNvSpPr/>
          <p:nvPr/>
        </p:nvSpPr>
        <p:spPr>
          <a:xfrm>
            <a:off x="905256" y="4453128"/>
            <a:ext cx="10863072" cy="172383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atinLnBrk="1"/>
            <a:r>
              <a:rPr lang="en-US" sz="1200" dirty="0"/>
              <a:t># 2023-style: Brittle prompt engineering</a:t>
            </a:r>
          </a:p>
          <a:p>
            <a:pPr latinLnBrk="1"/>
            <a:r>
              <a:rPr lang="en-US" sz="1200" dirty="0"/>
              <a:t>prompt = </a:t>
            </a:r>
            <a:r>
              <a:rPr lang="en-US" sz="1200" dirty="0" err="1"/>
              <a:t>f"""You</a:t>
            </a:r>
            <a:r>
              <a:rPr lang="en-US" sz="1200" dirty="0"/>
              <a:t> are an expert. Answer this carefully:</a:t>
            </a:r>
          </a:p>
          <a:p>
            <a:pPr latinLnBrk="1"/>
            <a:r>
              <a:rPr lang="en-US" sz="1200" dirty="0"/>
              <a:t>Question: {question}</a:t>
            </a:r>
          </a:p>
          <a:p>
            <a:pPr latinLnBrk="1"/>
            <a:r>
              <a:rPr lang="en-US" sz="1200" dirty="0"/>
              <a:t>Context: {context}</a:t>
            </a:r>
          </a:p>
          <a:p>
            <a:pPr latinLnBrk="1"/>
            <a:endParaRPr lang="en-US" sz="1200" dirty="0"/>
          </a:p>
          <a:p>
            <a:pPr latinLnBrk="1"/>
            <a:r>
              <a:rPr lang="en-US" sz="1200" dirty="0"/>
              <a:t>Think step by step and provide a detailed answer.</a:t>
            </a:r>
          </a:p>
          <a:p>
            <a:pPr latinLnBrk="1"/>
            <a:r>
              <a:rPr lang="en-US" sz="1200" dirty="0"/>
              <a:t>Make sure to include examples and be thorough.</a:t>
            </a:r>
          </a:p>
          <a:p>
            <a:pPr latinLnBrk="1"/>
            <a:r>
              <a:rPr lang="en-US" sz="1200" dirty="0"/>
              <a:t>Answer:"""</a:t>
            </a:r>
          </a:p>
        </p:txBody>
      </p:sp>
    </p:spTree>
    <p:extLst>
      <p:ext uri="{BB962C8B-B14F-4D97-AF65-F5344CB8AC3E}">
        <p14:creationId xmlns:p14="http://schemas.microsoft.com/office/powerpoint/2010/main" val="2889202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90AD8E-4283-204E-C2F4-6BCA20E425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2024: The Orchestration Era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ADD8CC-A66E-7134-6DD3-B31C7AA6F7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Focus</a:t>
            </a:r>
            <a:r>
              <a:rPr lang="en-US" dirty="0"/>
              <a:t>: "How do I build reliable systems with LLMs?"</a:t>
            </a:r>
          </a:p>
          <a:p>
            <a:r>
              <a:rPr lang="en-US" b="1" dirty="0"/>
              <a:t>Skills</a:t>
            </a:r>
            <a:r>
              <a:rPr lang="en-US" dirty="0"/>
              <a:t>: Multi-step workflows, tool integration, memory, RAG</a:t>
            </a:r>
          </a:p>
          <a:p>
            <a:r>
              <a:rPr lang="en-US" b="1" dirty="0"/>
              <a:t>Tools</a:t>
            </a:r>
            <a:r>
              <a:rPr lang="en-US" dirty="0"/>
              <a:t>: </a:t>
            </a:r>
            <a:r>
              <a:rPr lang="en-US" b="1" dirty="0" err="1"/>
              <a:t>LangChain</a:t>
            </a:r>
            <a:r>
              <a:rPr lang="en-US" b="1" dirty="0"/>
              <a:t>/</a:t>
            </a:r>
            <a:r>
              <a:rPr lang="en-US" b="1" dirty="0" err="1"/>
              <a:t>LangGraph</a:t>
            </a:r>
            <a:r>
              <a:rPr lang="en-US" dirty="0"/>
              <a:t>, vector databases, async processing</a:t>
            </a:r>
          </a:p>
          <a:p>
            <a:r>
              <a:rPr lang="en-US" b="1" dirty="0"/>
              <a:t>Advancement</a:t>
            </a:r>
            <a:r>
              <a:rPr lang="en-US" dirty="0"/>
              <a:t>: Systems thinking, production patterns</a:t>
            </a:r>
          </a:p>
          <a:p>
            <a:r>
              <a:rPr lang="en-US" b="1" dirty="0"/>
              <a:t>Your achievement</a:t>
            </a:r>
            <a:r>
              <a:rPr lang="en-US" dirty="0"/>
              <a:t>: The complete multi-agent pipeline with queues, memory, and specialized agents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B833C9D-3085-2443-4ECE-262E3A89946B}"/>
              </a:ext>
            </a:extLst>
          </p:cNvPr>
          <p:cNvSpPr/>
          <p:nvPr/>
        </p:nvSpPr>
        <p:spPr>
          <a:xfrm>
            <a:off x="838200" y="5166360"/>
            <a:ext cx="10719816" cy="1326515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latinLnBrk="1"/>
            <a:r>
              <a:rPr lang="en-US" sz="1000" dirty="0"/>
              <a:t># 2024-style: Orchestrated system</a:t>
            </a:r>
          </a:p>
          <a:p>
            <a:pPr latinLnBrk="1"/>
            <a:r>
              <a:rPr lang="en-US" sz="1000" dirty="0"/>
              <a:t>pipeline = </a:t>
            </a:r>
            <a:r>
              <a:rPr lang="en-US" sz="1000" dirty="0" err="1"/>
              <a:t>StateGraph</a:t>
            </a:r>
            <a:r>
              <a:rPr lang="en-US" sz="1000" dirty="0"/>
              <a:t>(</a:t>
            </a:r>
            <a:r>
              <a:rPr lang="en-US" sz="1000" dirty="0" err="1"/>
              <a:t>AgentState</a:t>
            </a:r>
            <a:r>
              <a:rPr lang="en-US" sz="1000" dirty="0"/>
              <a:t>)</a:t>
            </a:r>
          </a:p>
          <a:p>
            <a:pPr latinLnBrk="1"/>
            <a:r>
              <a:rPr lang="en-US" sz="1000" dirty="0" err="1"/>
              <a:t>pipeline.add_node</a:t>
            </a:r>
            <a:r>
              <a:rPr lang="en-US" sz="1000" dirty="0"/>
              <a:t>("router", </a:t>
            </a:r>
            <a:r>
              <a:rPr lang="en-US" sz="1000" dirty="0" err="1"/>
              <a:t>router_agent</a:t>
            </a:r>
            <a:r>
              <a:rPr lang="en-US" sz="1000" dirty="0"/>
              <a:t>)</a:t>
            </a:r>
          </a:p>
          <a:p>
            <a:pPr latinLnBrk="1"/>
            <a:r>
              <a:rPr lang="en-US" sz="1000" dirty="0" err="1"/>
              <a:t>pipeline.add_node</a:t>
            </a:r>
            <a:r>
              <a:rPr lang="en-US" sz="1000" dirty="0"/>
              <a:t>("retriever", </a:t>
            </a:r>
            <a:r>
              <a:rPr lang="en-US" sz="1000" dirty="0" err="1"/>
              <a:t>retriever_agent</a:t>
            </a:r>
            <a:r>
              <a:rPr lang="en-US" sz="1000" dirty="0"/>
              <a:t>)</a:t>
            </a:r>
          </a:p>
          <a:p>
            <a:pPr latinLnBrk="1"/>
            <a:r>
              <a:rPr lang="en-US" sz="1000" dirty="0" err="1"/>
              <a:t>pipeline.add_node</a:t>
            </a:r>
            <a:r>
              <a:rPr lang="en-US" sz="1000" dirty="0"/>
              <a:t>("generator", </a:t>
            </a:r>
            <a:r>
              <a:rPr lang="en-US" sz="1000" dirty="0" err="1"/>
              <a:t>generator_agent</a:t>
            </a:r>
            <a:r>
              <a:rPr lang="en-US" sz="1000" dirty="0"/>
              <a:t>)</a:t>
            </a:r>
          </a:p>
          <a:p>
            <a:pPr latinLnBrk="1"/>
            <a:r>
              <a:rPr lang="en-US" sz="1000" dirty="0" err="1"/>
              <a:t>pipeline.add_node</a:t>
            </a:r>
            <a:r>
              <a:rPr lang="en-US" sz="1000" dirty="0"/>
              <a:t>("critic", </a:t>
            </a:r>
            <a:r>
              <a:rPr lang="en-US" sz="1000" dirty="0" err="1"/>
              <a:t>critic_agent</a:t>
            </a:r>
            <a:r>
              <a:rPr lang="en-US" sz="1000" dirty="0"/>
              <a:t>)</a:t>
            </a:r>
          </a:p>
          <a:p>
            <a:pPr latinLnBrk="1"/>
            <a:r>
              <a:rPr lang="en-US" sz="1000" dirty="0"/>
              <a:t># ... complex orchestration</a:t>
            </a:r>
          </a:p>
        </p:txBody>
      </p:sp>
    </p:spTree>
    <p:extLst>
      <p:ext uri="{BB962C8B-B14F-4D97-AF65-F5344CB8AC3E}">
        <p14:creationId xmlns:p14="http://schemas.microsoft.com/office/powerpoint/2010/main" val="13972495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1F2549-02BA-65D0-FCBB-786A0FCD6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2025: The Optimization Era 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B6DC4-8A96-7270-4883-E47C153565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Focus</a:t>
            </a:r>
            <a:r>
              <a:rPr lang="en-US" dirty="0"/>
              <a:t>: "How do I make my LLM system perform optimally?"</a:t>
            </a:r>
          </a:p>
          <a:p>
            <a:r>
              <a:rPr lang="en-US" b="1" dirty="0"/>
              <a:t>Skills</a:t>
            </a:r>
            <a:r>
              <a:rPr lang="en-US" dirty="0"/>
              <a:t>: Automated prompt optimization, evaluation, cost/latency trade-offs</a:t>
            </a:r>
          </a:p>
          <a:p>
            <a:r>
              <a:rPr lang="en-US" b="1" dirty="0"/>
              <a:t>Tools</a:t>
            </a:r>
            <a:r>
              <a:rPr lang="en-US" dirty="0"/>
              <a:t>: </a:t>
            </a:r>
            <a:r>
              <a:rPr lang="en-US" b="1" dirty="0" err="1"/>
              <a:t>DSPy</a:t>
            </a:r>
            <a:r>
              <a:rPr lang="en-US" dirty="0"/>
              <a:t>, advanced evaluation frameworks, </a:t>
            </a:r>
            <a:r>
              <a:rPr lang="en-US" dirty="0" err="1"/>
              <a:t>MLOps</a:t>
            </a:r>
            <a:r>
              <a:rPr lang="en-US" dirty="0"/>
              <a:t> for LLMs</a:t>
            </a:r>
          </a:p>
          <a:p>
            <a:r>
              <a:rPr lang="en-US" b="1" dirty="0"/>
              <a:t>Goal</a:t>
            </a:r>
            <a:r>
              <a:rPr lang="en-US" dirty="0"/>
              <a:t>: Data-driven, measurable, continuously improving systems</a:t>
            </a:r>
          </a:p>
          <a:p>
            <a:r>
              <a:rPr lang="en-US" b="1" dirty="0"/>
              <a:t>Your roadmap</a:t>
            </a:r>
            <a:r>
              <a:rPr lang="en-US" dirty="0"/>
              <a:t>: </a:t>
            </a:r>
            <a:r>
              <a:rPr lang="en-US" dirty="0" err="1"/>
              <a:t>DSPy</a:t>
            </a:r>
            <a:r>
              <a:rPr lang="en-US" dirty="0"/>
              <a:t> for router, generator, critic optimization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6FC88DA-2590-99EF-0630-4F966D03C38F}"/>
              </a:ext>
            </a:extLst>
          </p:cNvPr>
          <p:cNvSpPr/>
          <p:nvPr/>
        </p:nvSpPr>
        <p:spPr>
          <a:xfrm>
            <a:off x="374904" y="4873752"/>
            <a:ext cx="11329416" cy="177393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sz="1200" dirty="0"/>
              <a:t># 2025-style: Optimized, data-driven</a:t>
            </a:r>
          </a:p>
          <a:p>
            <a:r>
              <a:rPr lang="en-US" sz="1200" dirty="0"/>
              <a:t>class </a:t>
            </a:r>
            <a:r>
              <a:rPr lang="en-US" sz="1200" dirty="0" err="1"/>
              <a:t>OptimizedAgent</a:t>
            </a:r>
            <a:r>
              <a:rPr lang="en-US" sz="1200" dirty="0"/>
              <a:t>(</a:t>
            </a:r>
            <a:r>
              <a:rPr lang="en-US" sz="1200" dirty="0" err="1"/>
              <a:t>dspy.Module</a:t>
            </a:r>
            <a:r>
              <a:rPr lang="en-US" sz="1200" dirty="0"/>
              <a:t>):</a:t>
            </a:r>
          </a:p>
          <a:p>
            <a:r>
              <a:rPr lang="en-US" sz="1200" dirty="0"/>
              <a:t>    def __</a:t>
            </a:r>
            <a:r>
              <a:rPr lang="en-US" sz="1200" dirty="0" err="1"/>
              <a:t>init</a:t>
            </a:r>
            <a:r>
              <a:rPr lang="en-US" sz="1200" dirty="0"/>
              <a:t>__(self):</a:t>
            </a:r>
          </a:p>
          <a:p>
            <a:r>
              <a:rPr lang="en-US" sz="1200" dirty="0"/>
              <a:t>        </a:t>
            </a:r>
            <a:r>
              <a:rPr lang="en-US" sz="1200" dirty="0" err="1"/>
              <a:t>self.predict</a:t>
            </a:r>
            <a:r>
              <a:rPr lang="en-US" sz="1200" dirty="0"/>
              <a:t> = </a:t>
            </a:r>
            <a:r>
              <a:rPr lang="en-US" sz="1200" dirty="0" err="1"/>
              <a:t>dspy.ChainOfThought</a:t>
            </a:r>
            <a:r>
              <a:rPr lang="en-US" sz="1200" dirty="0"/>
              <a:t>("input -&gt; output")</a:t>
            </a:r>
          </a:p>
          <a:p>
            <a:r>
              <a:rPr lang="en-US" sz="1200" dirty="0"/>
              <a:t>    </a:t>
            </a:r>
          </a:p>
          <a:p>
            <a:r>
              <a:rPr lang="en-US" sz="1200" dirty="0"/>
              <a:t># COMPILE with data</a:t>
            </a:r>
          </a:p>
          <a:p>
            <a:r>
              <a:rPr lang="en-US" sz="1200" dirty="0" err="1"/>
              <a:t>optimized_agent</a:t>
            </a:r>
            <a:r>
              <a:rPr lang="en-US" sz="1200" dirty="0"/>
              <a:t> = </a:t>
            </a:r>
            <a:r>
              <a:rPr lang="en-US" sz="1200" dirty="0" err="1"/>
              <a:t>teleprompter.compile</a:t>
            </a:r>
            <a:r>
              <a:rPr lang="en-US" sz="1200" dirty="0"/>
              <a:t>(agent, trainset=examples)</a:t>
            </a:r>
          </a:p>
        </p:txBody>
      </p:sp>
    </p:spTree>
    <p:extLst>
      <p:ext uri="{BB962C8B-B14F-4D97-AF65-F5344CB8AC3E}">
        <p14:creationId xmlns:p14="http://schemas.microsoft.com/office/powerpoint/2010/main" val="10837595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6DF51C-4509-9504-FED2-47419205D5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2026: The Reasoning &amp; Agency Era [Prediction]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867213-13E1-F641-D6AB-31765EE822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Multi-Agent Reasoning Networks</a:t>
            </a:r>
            <a:r>
              <a:rPr lang="en-US" dirty="0"/>
              <a:t> (Beyond Orchestration)</a:t>
            </a:r>
          </a:p>
          <a:p>
            <a:r>
              <a:rPr lang="en-US" b="1" dirty="0"/>
              <a:t>Long-Horizon Planning</a:t>
            </a:r>
            <a:r>
              <a:rPr lang="en-US" dirty="0"/>
              <a:t> (Beyond Single Queries)</a:t>
            </a:r>
          </a:p>
          <a:p>
            <a:r>
              <a:rPr lang="en-US" b="1" dirty="0"/>
              <a:t>Self-Improving Systems</a:t>
            </a:r>
            <a:r>
              <a:rPr lang="en-US" dirty="0"/>
              <a:t> (Beyond Manual Optimization)</a:t>
            </a:r>
          </a:p>
        </p:txBody>
      </p:sp>
    </p:spTree>
    <p:extLst>
      <p:ext uri="{BB962C8B-B14F-4D97-AF65-F5344CB8AC3E}">
        <p14:creationId xmlns:p14="http://schemas.microsoft.com/office/powerpoint/2010/main" val="7274353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373</Words>
  <Application>Microsoft Office PowerPoint</Application>
  <PresentationFormat>Widescreen</PresentationFormat>
  <Paragraphs>45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AI Revolution 2023 and beyond</vt:lpstr>
      <vt:lpstr>2023: The Prompt Engineering Era</vt:lpstr>
      <vt:lpstr>2024: The Orchestration Era </vt:lpstr>
      <vt:lpstr>2025: The Optimization Era </vt:lpstr>
      <vt:lpstr>2026: The Reasoning &amp; Agency Era [Prediction]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Eric See Kian Seng</dc:creator>
  <cp:lastModifiedBy>Eric See Kian Seng</cp:lastModifiedBy>
  <cp:revision>4</cp:revision>
  <dcterms:created xsi:type="dcterms:W3CDTF">2026-01-04T10:14:51Z</dcterms:created>
  <dcterms:modified xsi:type="dcterms:W3CDTF">2026-01-04T10:24:44Z</dcterms:modified>
</cp:coreProperties>
</file>